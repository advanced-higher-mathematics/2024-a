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6" r:id="rId3"/>
    <p:sldId id="263" r:id="rId4"/>
    <p:sldId id="264" r:id="rId5"/>
    <p:sldId id="267" r:id="rId6"/>
    <p:sldId id="265" r:id="rId7"/>
    <p:sldId id="26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F6E89-915F-87A2-47CB-588C79ABC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1C53F5-DAAC-80BF-0550-DDD86A9E7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C4797C-39F1-04CB-6D55-30D6BD15D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FC56-4552-4E82-A40C-D322DD44CB8B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9A1064-2404-731D-34B2-5285DA18C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B14429-8C96-E569-0F07-EF898CB50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53C2F-1A1D-4624-B145-1EBEA0F659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199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374171-4DDC-3EFB-5F78-A9EA46E25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E76864-F9C0-9ADA-DD59-7E0352F9D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69F7D8-2597-EA2B-6E57-315435DB1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FC56-4552-4E82-A40C-D322DD44CB8B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AF0D14-A0F2-37C5-3858-5268BDE6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B37B7E-804D-C977-D84A-BCD056ADE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53C2F-1A1D-4624-B145-1EBEA0F659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456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9C91D-C280-760B-0CB2-52788DC8E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796C5C-3697-B1B3-039F-043FB9259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4AFA54-07F9-5212-D421-3F1F0BEFE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FC56-4552-4E82-A40C-D322DD44CB8B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2C430-B5B1-D52D-E8E7-A6B5260AD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B64A5-4337-7D80-DDC3-CED2A13A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53C2F-1A1D-4624-B145-1EBEA0F659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89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13D203-889D-3B42-FF2D-05EF553A4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C2B01B-EE8C-1859-229F-25845B179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4D0C94-05DB-EAB9-09FB-303BD127E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648400-5E2D-9A5E-BC3C-7F8F96A6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FC56-4552-4E82-A40C-D322DD44CB8B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C12D30-5B84-2CE9-F53F-C0C940206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13592C-7496-D761-FD24-C28E837F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53C2F-1A1D-4624-B145-1EBEA0F659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886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B2E096-7BD9-C5FA-5561-7D0B81605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9209C3-A036-1D91-730A-5D15270D4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908712-D92E-3123-33D4-9F744882D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64B1C9-A7F5-4ED2-BD44-63B221835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8368B7-4F69-08F5-BA6A-61B9221758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D41F46-ED92-56E3-FC80-0B7E2E09D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FC56-4552-4E82-A40C-D322DD44CB8B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C3EDA5-D016-AE2D-7D60-989D9AAE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3DF1FD-D010-4093-FCE0-ACCD0DD39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53C2F-1A1D-4624-B145-1EBEA0F659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340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F0F84-3436-99CF-BC02-70D2C0E05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D3F9CA-2321-AB51-92CC-393CE87E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FC56-4552-4E82-A40C-D322DD44CB8B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0E6191-407D-7718-D30C-154BB524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EE1843-9D27-F79C-FA1E-73CD8E6FE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53C2F-1A1D-4624-B145-1EBEA0F659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83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B74C00-7C8D-7247-FF6A-17C40B661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FC56-4552-4E82-A40C-D322DD44CB8B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9E01EF-1E61-8274-E574-476382393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F7EE32-E14F-E38E-5DD6-88A66D86C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53C2F-1A1D-4624-B145-1EBEA0F659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46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95C34-A122-CE05-2836-C7D13DC54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261FCC-B997-5960-159A-A108FFAFB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8AF87E-EC09-5EC4-F756-2B76E447F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C249B2-5443-C8A6-9889-CB91460C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FC56-4552-4E82-A40C-D322DD44CB8B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8E2297-25C3-D621-6626-3E1E0743F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3B696D-14FA-5054-5E56-9EEF4F3B7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53C2F-1A1D-4624-B145-1EBEA0F659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138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E6653-8F45-3FFC-0BD5-C5AFDC633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9765D8-C1E3-6274-2D06-1A9768D67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E0DFF1-7DD8-FCD0-32D1-C9167061A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10411A-2D25-02E4-DAA8-C43D86CBC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FC56-4552-4E82-A40C-D322DD44CB8B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FE350E-5D93-CB0D-B423-CA3E7110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13305E-E4F6-A21A-4FFF-38591FCD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53C2F-1A1D-4624-B145-1EBEA0F659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612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5507E-52C1-66F2-37CC-94CBDC0F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C4FDC9-88E4-06CD-D858-4EE9F1E8E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304A37-2E5C-D27B-856C-BED4F32EC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FC56-4552-4E82-A40C-D322DD44CB8B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F209B5-917E-CFF3-EE53-AD7A40B2E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746892-82BA-B110-B49F-91A77533E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53C2F-1A1D-4624-B145-1EBEA0F659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513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B9264F1-6621-9B9F-E312-63D5B36BF6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A2AA54-FEB0-70A6-1DBB-0F6D98A20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4B98E3-E92F-EAF8-3438-00098E9CB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FC56-4552-4E82-A40C-D322DD44CB8B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3749EE-D73B-BA7C-12AD-61E1138A0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029FA1-2622-EB32-7D4F-6589B4A26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53C2F-1A1D-4624-B145-1EBEA0F659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256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210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CE84DB-31A3-7433-2E0C-28DC9570A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A42B59-8CFA-A5F6-CC18-433E8D7ED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37031F-3A3D-B3D2-AB0C-3ECF6F830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BFC56-4552-4E82-A40C-D322DD44CB8B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7D7DEB-E6AE-E625-2FC1-4997A9FD8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E39B27-7A9B-3BBD-3B26-A82E23DFA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E53C2F-1A1D-4624-B145-1EBEA0F659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77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10" Type="http://schemas.openxmlformats.org/officeDocument/2006/relationships/image" Target="../media/image7.jpe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11" Type="http://schemas.openxmlformats.org/officeDocument/2006/relationships/image" Target="../media/image10.jpeg"/><Relationship Id="rId5" Type="http://schemas.openxmlformats.org/officeDocument/2006/relationships/image" Target="../media/image8.png"/><Relationship Id="rId10" Type="http://schemas.openxmlformats.org/officeDocument/2006/relationships/image" Target="../media/image7.jpe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7999047" y="-207036"/>
            <a:ext cx="2011144" cy="4241259"/>
          </a:xfrm>
          <a:prstGeom prst="parallelogram">
            <a:avLst>
              <a:gd name="adj" fmla="val 58401"/>
            </a:avLst>
          </a:prstGeom>
          <a:gradFill>
            <a:gsLst>
              <a:gs pos="0">
                <a:srgbClr val="FFFFFF">
                  <a:alpha val="29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404089" y="205339"/>
            <a:ext cx="2495761" cy="759939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Q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开闭区域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内点概念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1"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7370CF8-E98C-67E8-B3E9-371DEEB64B1B}"/>
              </a:ext>
            </a:extLst>
          </p:cNvPr>
          <p:cNvSpPr txBox="1"/>
          <p:nvPr/>
        </p:nvSpPr>
        <p:spPr>
          <a:xfrm>
            <a:off x="583742" y="1258769"/>
            <a:ext cx="256004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[</a:t>
            </a:r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碧波之牢</a:t>
            </a:r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just"/>
            <a:endParaRPr lang="en-US" altLang="zh-CN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区域内所有单位被水泡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algn="just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Q]: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给区域加一个边界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所有被水泡冻结过的单位碰到边界后被石化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CB3B24EB-4F93-8E1A-3D23-3763CF331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50" y="1271485"/>
            <a:ext cx="615024" cy="56131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3176668-683D-56CB-F67D-568D7D429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35" y="4483689"/>
            <a:ext cx="2287349" cy="21689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4A4A5-463D-A6EC-127E-B48633639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2B362C2-681E-4CDC-4995-8AF342C158E2}"/>
              </a:ext>
            </a:extLst>
          </p:cNvPr>
          <p:cNvSpPr txBox="1"/>
          <p:nvPr/>
        </p:nvSpPr>
        <p:spPr>
          <a:xfrm>
            <a:off x="7999047" y="-207036"/>
            <a:ext cx="2011144" cy="4241259"/>
          </a:xfrm>
          <a:prstGeom prst="parallelogram">
            <a:avLst>
              <a:gd name="adj" fmla="val 58401"/>
            </a:avLst>
          </a:prstGeom>
          <a:gradFill>
            <a:gsLst>
              <a:gs pos="0">
                <a:srgbClr val="FFFFFF">
                  <a:alpha val="29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817181E4-349C-6250-AA2D-31C5EC9864E7}"/>
              </a:ext>
            </a:extLst>
          </p:cNvPr>
          <p:cNvSpPr txBox="1"/>
          <p:nvPr/>
        </p:nvSpPr>
        <p:spPr>
          <a:xfrm>
            <a:off x="404089" y="205339"/>
            <a:ext cx="2495761" cy="759939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Q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开闭区域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内点概念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1"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86B7DDE-DCFE-D41B-2CD3-D44F1C09B6DF}"/>
              </a:ext>
            </a:extLst>
          </p:cNvPr>
          <p:cNvSpPr txBox="1"/>
          <p:nvPr/>
        </p:nvSpPr>
        <p:spPr>
          <a:xfrm>
            <a:off x="583742" y="1258769"/>
            <a:ext cx="256004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[</a:t>
            </a:r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碧波之牢</a:t>
            </a:r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just"/>
            <a:endParaRPr lang="en-US" altLang="zh-CN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区域内所有单位被水泡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algn="just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Q]: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给区域加一个边界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所有被水泡冻结过的单位碰到边界后被石化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BA47FEDB-4809-0F06-41E3-903E99F96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50" y="1271485"/>
            <a:ext cx="615024" cy="56131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75A1925-289B-CE3B-6101-664848AB3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35" y="4483689"/>
            <a:ext cx="2287349" cy="216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80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A3EBF-73B1-0BB6-5C71-12D6AB919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8FA7D0A-0204-03E7-01F8-534455219CE3}"/>
              </a:ext>
            </a:extLst>
          </p:cNvPr>
          <p:cNvSpPr txBox="1"/>
          <p:nvPr/>
        </p:nvSpPr>
        <p:spPr>
          <a:xfrm>
            <a:off x="7999047" y="-207036"/>
            <a:ext cx="2011144" cy="4241259"/>
          </a:xfrm>
          <a:prstGeom prst="parallelogram">
            <a:avLst>
              <a:gd name="adj" fmla="val 58401"/>
            </a:avLst>
          </a:prstGeom>
          <a:gradFill>
            <a:gsLst>
              <a:gs pos="0">
                <a:srgbClr val="FFFFFF">
                  <a:alpha val="29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BBE5DC36-FAEB-5408-993F-54C4627E9DF6}"/>
              </a:ext>
            </a:extLst>
          </p:cNvPr>
          <p:cNvSpPr txBox="1"/>
          <p:nvPr/>
        </p:nvSpPr>
        <p:spPr>
          <a:xfrm>
            <a:off x="404089" y="205339"/>
            <a:ext cx="2495761" cy="759939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Q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开闭区域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内点概念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1"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C59BE8B8-2501-A260-C098-AA656A565EAF}"/>
              </a:ext>
            </a:extLst>
          </p:cNvPr>
          <p:cNvSpPr txBox="1"/>
          <p:nvPr/>
        </p:nvSpPr>
        <p:spPr>
          <a:xfrm>
            <a:off x="3404277" y="205339"/>
            <a:ext cx="2421825" cy="759939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W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极限与连续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多路径概念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FAD831C-D1DD-8068-0B11-21FE6B789E47}"/>
              </a:ext>
            </a:extLst>
          </p:cNvPr>
          <p:cNvSpPr txBox="1"/>
          <p:nvPr/>
        </p:nvSpPr>
        <p:spPr>
          <a:xfrm>
            <a:off x="583742" y="1258769"/>
            <a:ext cx="256004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[</a:t>
            </a:r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碧波之牢</a:t>
            </a:r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just"/>
            <a:endParaRPr lang="en-US" altLang="zh-CN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区域内所有单位被水泡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algn="just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Q]: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给区域加一个边界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所有被水泡冻结过的单位碰到边界后被石化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B0B8966-A833-9FC7-3D86-A636FF9287B3}"/>
              </a:ext>
            </a:extLst>
          </p:cNvPr>
          <p:cNvSpPr txBox="1"/>
          <p:nvPr/>
        </p:nvSpPr>
        <p:spPr>
          <a:xfrm>
            <a:off x="3365038" y="1258769"/>
            <a:ext cx="243494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撒石阵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在空间中构造不连续的石块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减速所有敌方英雄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并对区域内所有释放位移技能的英雄造成眩晕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34C85DA8-F234-EEEA-5937-15BE77001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894" y="1278549"/>
            <a:ext cx="638380" cy="57570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2DFB6E53-CEDC-0E97-1F10-93522C3E6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50" y="1271485"/>
            <a:ext cx="615024" cy="56131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ACE49C6-F9F2-29C6-B400-BC408F9AE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35" y="4483689"/>
            <a:ext cx="2287349" cy="21689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0F0DDF3-7EAE-E227-0F78-7CE770D85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3459" y="4383804"/>
            <a:ext cx="2623459" cy="234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27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FA0FD-AE16-8EC1-FB52-B5E223305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B9E8C563-F794-1B7D-9D1B-B18B6C8510D9}"/>
              </a:ext>
            </a:extLst>
          </p:cNvPr>
          <p:cNvSpPr txBox="1"/>
          <p:nvPr/>
        </p:nvSpPr>
        <p:spPr>
          <a:xfrm>
            <a:off x="7999047" y="-207036"/>
            <a:ext cx="2011144" cy="4241259"/>
          </a:xfrm>
          <a:prstGeom prst="parallelogram">
            <a:avLst>
              <a:gd name="adj" fmla="val 58401"/>
            </a:avLst>
          </a:prstGeom>
          <a:gradFill>
            <a:gsLst>
              <a:gs pos="0">
                <a:srgbClr val="FFFFFF">
                  <a:alpha val="29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FDA43D34-9E33-C569-066B-6CD1C2D78723}"/>
              </a:ext>
            </a:extLst>
          </p:cNvPr>
          <p:cNvSpPr txBox="1"/>
          <p:nvPr/>
        </p:nvSpPr>
        <p:spPr>
          <a:xfrm>
            <a:off x="404089" y="205339"/>
            <a:ext cx="2495761" cy="759939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Q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开闭区域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内点概念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1"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174D4264-B907-37D2-3A25-DF3F48918A7A}"/>
              </a:ext>
            </a:extLst>
          </p:cNvPr>
          <p:cNvSpPr txBox="1"/>
          <p:nvPr/>
        </p:nvSpPr>
        <p:spPr>
          <a:xfrm>
            <a:off x="3404277" y="205339"/>
            <a:ext cx="2421825" cy="759939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W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极限与连续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多路径概念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3044792A-BDC7-6233-116E-722DD1D6E1A4}"/>
              </a:ext>
            </a:extLst>
          </p:cNvPr>
          <p:cNvSpPr txBox="1"/>
          <p:nvPr/>
        </p:nvSpPr>
        <p:spPr>
          <a:xfrm>
            <a:off x="6330529" y="205339"/>
            <a:ext cx="2405416" cy="772884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E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偏导数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固定其它变量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EF2EC3B-BE0C-3275-7339-6F3A7371F598}"/>
              </a:ext>
            </a:extLst>
          </p:cNvPr>
          <p:cNvSpPr txBox="1"/>
          <p:nvPr/>
        </p:nvSpPr>
        <p:spPr>
          <a:xfrm>
            <a:off x="583742" y="1258769"/>
            <a:ext cx="256004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[</a:t>
            </a:r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碧波之牢</a:t>
            </a:r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just"/>
            <a:endParaRPr lang="en-US" altLang="zh-CN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区域内所有单位被水泡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algn="just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Q]: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给区域加一个边界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所有被水泡冻结过的单位碰到边界后被石化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BDF2823-227F-893C-10EC-C0E82878E845}"/>
              </a:ext>
            </a:extLst>
          </p:cNvPr>
          <p:cNvSpPr txBox="1"/>
          <p:nvPr/>
        </p:nvSpPr>
        <p:spPr>
          <a:xfrm>
            <a:off x="3365038" y="1258769"/>
            <a:ext cx="243494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撒石阵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在空间中构造不连续的石块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减速所有敌方英雄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并对区域内所有释放位移技能的英雄造成眩晕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3E9416A-8E24-19A4-D7E0-1DEA01D692E2}"/>
              </a:ext>
            </a:extLst>
          </p:cNvPr>
          <p:cNvSpPr txBox="1"/>
          <p:nvPr/>
        </p:nvSpPr>
        <p:spPr>
          <a:xfrm>
            <a:off x="6211018" y="1258768"/>
            <a:ext cx="262345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轮回绝境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选取一个敌方英雄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决斗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决斗期间其他英雄和小兵均被冻结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即当成常数处理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).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45FEC5E7-6FE1-98EE-1CDA-B1E16CCBC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894" y="1278549"/>
            <a:ext cx="638380" cy="57570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81EF721C-7402-DD84-B3BF-7A536175C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50" y="1271485"/>
            <a:ext cx="615024" cy="56131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009FB1D7-DE40-EFA6-E3AE-808AC4797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840" y="1271484"/>
            <a:ext cx="622809" cy="56131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DEDCD4B-B386-EEE2-A742-C78FD9A3F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35" y="4483689"/>
            <a:ext cx="2287349" cy="21689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1F9899A-CDB6-36A2-0448-D80CD86CC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3459" y="4383804"/>
            <a:ext cx="2623459" cy="234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52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4F8E-6479-2169-65AA-9F08BC030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F7D7AD1-051F-026C-D53A-50B9CE95C6A3}"/>
              </a:ext>
            </a:extLst>
          </p:cNvPr>
          <p:cNvSpPr txBox="1"/>
          <p:nvPr/>
        </p:nvSpPr>
        <p:spPr>
          <a:xfrm>
            <a:off x="7999047" y="-207036"/>
            <a:ext cx="2011144" cy="4241259"/>
          </a:xfrm>
          <a:prstGeom prst="parallelogram">
            <a:avLst>
              <a:gd name="adj" fmla="val 58401"/>
            </a:avLst>
          </a:prstGeom>
          <a:gradFill>
            <a:gsLst>
              <a:gs pos="0">
                <a:srgbClr val="FFFFFF">
                  <a:alpha val="29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C7E3A64E-4BDC-669E-F2AB-60C89B4951DF}"/>
              </a:ext>
            </a:extLst>
          </p:cNvPr>
          <p:cNvSpPr txBox="1"/>
          <p:nvPr/>
        </p:nvSpPr>
        <p:spPr>
          <a:xfrm>
            <a:off x="404089" y="205339"/>
            <a:ext cx="2495761" cy="759939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Q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开闭区域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内点概念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1"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9DC08C39-4368-2C6F-3505-841F6A976CDC}"/>
              </a:ext>
            </a:extLst>
          </p:cNvPr>
          <p:cNvSpPr txBox="1"/>
          <p:nvPr/>
        </p:nvSpPr>
        <p:spPr>
          <a:xfrm>
            <a:off x="3404277" y="205339"/>
            <a:ext cx="2421825" cy="759939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W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极限与连续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多路径概念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F74AAC7E-CB4A-326E-86CA-3137A5239F83}"/>
              </a:ext>
            </a:extLst>
          </p:cNvPr>
          <p:cNvSpPr txBox="1"/>
          <p:nvPr/>
        </p:nvSpPr>
        <p:spPr>
          <a:xfrm>
            <a:off x="6330529" y="205339"/>
            <a:ext cx="2405416" cy="772884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E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偏导数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固定其它变量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9D57688-7B87-C6DE-B3BC-278A3B55039A}"/>
              </a:ext>
            </a:extLst>
          </p:cNvPr>
          <p:cNvSpPr txBox="1"/>
          <p:nvPr/>
        </p:nvSpPr>
        <p:spPr>
          <a:xfrm>
            <a:off x="583742" y="1258769"/>
            <a:ext cx="256004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[</a:t>
            </a:r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碧波之牢</a:t>
            </a:r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just"/>
            <a:endParaRPr lang="en-US" altLang="zh-CN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区域内所有单位被水泡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algn="just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Q]: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给区域加一个边界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所有被水泡冻结过的单位碰到边界后被石化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E313826-A4C3-CD46-EC3C-A643B041DA84}"/>
              </a:ext>
            </a:extLst>
          </p:cNvPr>
          <p:cNvSpPr txBox="1"/>
          <p:nvPr/>
        </p:nvSpPr>
        <p:spPr>
          <a:xfrm>
            <a:off x="3365038" y="1258769"/>
            <a:ext cx="243494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撒石阵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在空间中构造不连续的石块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减速所有敌方英雄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并对区域内所有释放位移技能的英雄造成眩晕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13C6F54-515E-FCA0-E37C-002729EDDC84}"/>
              </a:ext>
            </a:extLst>
          </p:cNvPr>
          <p:cNvSpPr txBox="1"/>
          <p:nvPr/>
        </p:nvSpPr>
        <p:spPr>
          <a:xfrm>
            <a:off x="6211018" y="1258768"/>
            <a:ext cx="262345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轮回绝境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选取一个敌方英雄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决斗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决斗期间其他英雄和小兵均被冻结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即当成常数处理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).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202E91CF-1BE9-15D4-D706-E6113E6AB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894" y="1278549"/>
            <a:ext cx="638380" cy="57570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AA604459-55B6-264B-4B30-9DEE7EB73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50" y="1271485"/>
            <a:ext cx="615024" cy="56131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98331024-73DA-077B-CCDD-877AAC3DB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840" y="1271484"/>
            <a:ext cx="622809" cy="56131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FDF50F-08C1-0995-5AA4-A31658CAA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35" y="4483689"/>
            <a:ext cx="2287349" cy="216897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FFFA312-0215-728F-F63A-C985C54703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7556" y="3693631"/>
            <a:ext cx="1833471" cy="113801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F551E9A-F2E3-76C1-A7BE-C301031CB5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3459" y="4383804"/>
            <a:ext cx="2623459" cy="2348570"/>
          </a:xfrm>
          <a:prstGeom prst="rect">
            <a:avLst/>
          </a:prstGeom>
        </p:spPr>
      </p:pic>
      <p:pic>
        <p:nvPicPr>
          <p:cNvPr id="1026" name="Picture 2" descr="The original Lenna test image.">
            <a:extLst>
              <a:ext uri="{FF2B5EF4-FFF2-40B4-BE49-F238E27FC236}">
                <a16:creationId xmlns:a16="http://schemas.microsoft.com/office/drawing/2014/main" id="{58B76A1B-6561-BBF2-0FCA-1AE5DF9C4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006" y="4964768"/>
            <a:ext cx="1767606" cy="1767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390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89349-8409-4613-3914-145C9897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868F12-A2E4-60CC-1DD7-738210C88354}"/>
              </a:ext>
            </a:extLst>
          </p:cNvPr>
          <p:cNvSpPr txBox="1"/>
          <p:nvPr/>
        </p:nvSpPr>
        <p:spPr>
          <a:xfrm>
            <a:off x="7999047" y="-207036"/>
            <a:ext cx="2011144" cy="4241259"/>
          </a:xfrm>
          <a:prstGeom prst="parallelogram">
            <a:avLst>
              <a:gd name="adj" fmla="val 58401"/>
            </a:avLst>
          </a:prstGeom>
          <a:gradFill>
            <a:gsLst>
              <a:gs pos="0">
                <a:srgbClr val="FFFFFF">
                  <a:alpha val="29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194FAFDE-61CA-B0DA-E63C-24B13EAC3975}"/>
              </a:ext>
            </a:extLst>
          </p:cNvPr>
          <p:cNvSpPr txBox="1"/>
          <p:nvPr/>
        </p:nvSpPr>
        <p:spPr>
          <a:xfrm>
            <a:off x="404089" y="205339"/>
            <a:ext cx="2495761" cy="759939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Q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开闭区域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内点概念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1"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C6C3F59E-074C-3A61-9F15-F80415598C19}"/>
              </a:ext>
            </a:extLst>
          </p:cNvPr>
          <p:cNvSpPr txBox="1"/>
          <p:nvPr/>
        </p:nvSpPr>
        <p:spPr>
          <a:xfrm>
            <a:off x="3404277" y="205339"/>
            <a:ext cx="2421825" cy="759939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W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极限与连续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多路径概念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1735295B-9E54-616F-790F-30CA8E248C03}"/>
              </a:ext>
            </a:extLst>
          </p:cNvPr>
          <p:cNvSpPr txBox="1"/>
          <p:nvPr/>
        </p:nvSpPr>
        <p:spPr>
          <a:xfrm>
            <a:off x="6330529" y="205339"/>
            <a:ext cx="2405416" cy="772884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E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偏导数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固定其它变量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F29369DA-57AF-A10B-FB77-3C9E3FD35177}"/>
              </a:ext>
            </a:extLst>
          </p:cNvPr>
          <p:cNvSpPr txBox="1"/>
          <p:nvPr/>
        </p:nvSpPr>
        <p:spPr>
          <a:xfrm>
            <a:off x="9240372" y="205339"/>
            <a:ext cx="2523924" cy="795938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R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全微分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微分完全体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27324A7-C1F2-8040-2EAD-B054C6AC6824}"/>
              </a:ext>
            </a:extLst>
          </p:cNvPr>
          <p:cNvSpPr txBox="1"/>
          <p:nvPr/>
        </p:nvSpPr>
        <p:spPr>
          <a:xfrm>
            <a:off x="583742" y="1258769"/>
            <a:ext cx="256004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[</a:t>
            </a:r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碧波之牢</a:t>
            </a:r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just"/>
            <a:endParaRPr lang="en-US" altLang="zh-CN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区域内所有单位被水泡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algn="just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Q]: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给区域加一个边界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所有被水泡冻结过的单位碰到边界后被石化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1BC2E48-58A5-E6EC-977D-ECDF76963F62}"/>
              </a:ext>
            </a:extLst>
          </p:cNvPr>
          <p:cNvSpPr txBox="1"/>
          <p:nvPr/>
        </p:nvSpPr>
        <p:spPr>
          <a:xfrm>
            <a:off x="3365038" y="1258769"/>
            <a:ext cx="243494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撒石阵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在空间中构造不连续的石块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减速所有敌方英雄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并对区域内所有释放位移技能的英雄造成眩晕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966243E-6D6A-0DE4-476D-0A16BF43F4FC}"/>
              </a:ext>
            </a:extLst>
          </p:cNvPr>
          <p:cNvSpPr txBox="1"/>
          <p:nvPr/>
        </p:nvSpPr>
        <p:spPr>
          <a:xfrm>
            <a:off x="6211018" y="1258768"/>
            <a:ext cx="262345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轮回绝境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选取一个敌方英雄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决斗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决斗期间其他英雄和小兵均被冻结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即当成常数处理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).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46B4258-3D87-57D5-CA61-7F466D6B7AC6}"/>
              </a:ext>
            </a:extLst>
          </p:cNvPr>
          <p:cNvSpPr txBox="1"/>
          <p:nvPr/>
        </p:nvSpPr>
        <p:spPr>
          <a:xfrm>
            <a:off x="9154106" y="1258768"/>
            <a:ext cx="226028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[</a:t>
            </a:r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安魂曲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just"/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对全地图内所有英雄造成伤害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总伤害量等于每个英雄伤害量的和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23FC60B7-8347-0E7C-B092-43F4720DF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894" y="1278549"/>
            <a:ext cx="638380" cy="57570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33B5D181-6292-0F9F-61F9-077A9573D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50" y="1271485"/>
            <a:ext cx="615024" cy="56131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37EBF777-0D92-3CDA-D864-FBB420083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840" y="1271484"/>
            <a:ext cx="622809" cy="56131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1F962D45-4E1D-9084-70A8-214D70F84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4619" y="1257092"/>
            <a:ext cx="622809" cy="5757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DEFFF4B-BDA6-B53F-179C-7A8642027E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35" y="4483689"/>
            <a:ext cx="2287349" cy="216897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D50FA98-A08D-2CA8-1FEF-9497514B88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7556" y="3693631"/>
            <a:ext cx="1833471" cy="113801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7FFFFE2-F55D-E8A4-67DC-737C05DB8D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3459" y="4383804"/>
            <a:ext cx="2623459" cy="234857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99E8AA6-324C-ACB6-A344-F117CB4FE0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7215" y="3702515"/>
            <a:ext cx="3081338" cy="751252"/>
          </a:xfrm>
          <a:prstGeom prst="rect">
            <a:avLst/>
          </a:prstGeom>
        </p:spPr>
      </p:pic>
      <p:pic>
        <p:nvPicPr>
          <p:cNvPr id="1026" name="Picture 2" descr="The original Lenna test image.">
            <a:extLst>
              <a:ext uri="{FF2B5EF4-FFF2-40B4-BE49-F238E27FC236}">
                <a16:creationId xmlns:a16="http://schemas.microsoft.com/office/drawing/2014/main" id="{0F2389FC-FB7F-20C2-B4B8-229432D7B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006" y="4964768"/>
            <a:ext cx="1767606" cy="1767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49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3A82A-1E81-83C7-9F69-6155EFD1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3600DE4-9036-A2B4-655B-030251AC3CBA}"/>
              </a:ext>
            </a:extLst>
          </p:cNvPr>
          <p:cNvSpPr txBox="1"/>
          <p:nvPr/>
        </p:nvSpPr>
        <p:spPr>
          <a:xfrm>
            <a:off x="7999047" y="-207036"/>
            <a:ext cx="2011144" cy="4241259"/>
          </a:xfrm>
          <a:prstGeom prst="parallelogram">
            <a:avLst>
              <a:gd name="adj" fmla="val 58401"/>
            </a:avLst>
          </a:prstGeom>
          <a:gradFill>
            <a:gsLst>
              <a:gs pos="0">
                <a:srgbClr val="FFFFFF">
                  <a:alpha val="29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6B4DDA4E-89AB-9405-63EE-5F3B61FD981F}"/>
              </a:ext>
            </a:extLst>
          </p:cNvPr>
          <p:cNvSpPr txBox="1"/>
          <p:nvPr/>
        </p:nvSpPr>
        <p:spPr>
          <a:xfrm>
            <a:off x="404089" y="205339"/>
            <a:ext cx="2495761" cy="759939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Q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开闭区域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内点概念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1"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815ECD2-6C48-A106-277C-AD541C86CDF0}"/>
              </a:ext>
            </a:extLst>
          </p:cNvPr>
          <p:cNvSpPr txBox="1"/>
          <p:nvPr/>
        </p:nvSpPr>
        <p:spPr>
          <a:xfrm>
            <a:off x="3404277" y="205339"/>
            <a:ext cx="2421825" cy="759939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W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极限与连续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多路径概念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E7257268-0A7C-519A-2B05-CF3E0BF84AEA}"/>
              </a:ext>
            </a:extLst>
          </p:cNvPr>
          <p:cNvSpPr txBox="1"/>
          <p:nvPr/>
        </p:nvSpPr>
        <p:spPr>
          <a:xfrm>
            <a:off x="6330529" y="205339"/>
            <a:ext cx="2405416" cy="772884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E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偏导数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固定其它变量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B54EAB61-B878-1AB5-8712-68E19A879F1A}"/>
              </a:ext>
            </a:extLst>
          </p:cNvPr>
          <p:cNvSpPr txBox="1"/>
          <p:nvPr/>
        </p:nvSpPr>
        <p:spPr>
          <a:xfrm>
            <a:off x="9240372" y="205339"/>
            <a:ext cx="2523924" cy="795938"/>
          </a:xfrm>
          <a:prstGeom prst="rect">
            <a:avLst/>
          </a:prstGeom>
          <a:gradFill>
            <a:gsLst>
              <a:gs pos="10000">
                <a:schemeClr val="bg1">
                  <a:lumMod val="95000"/>
                </a:schemeClr>
              </a:gs>
              <a:gs pos="93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R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全微分</a:t>
            </a:r>
            <a:endParaRPr lang="en-US" altLang="zh-CN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</a:rPr>
              <a:t>微分完全体</a:t>
            </a:r>
            <a:r>
              <a:rPr lang="en-US" altLang="zh-CN" sz="25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F909524-0BFD-27A4-01FF-B2E707A404EA}"/>
              </a:ext>
            </a:extLst>
          </p:cNvPr>
          <p:cNvSpPr txBox="1"/>
          <p:nvPr/>
        </p:nvSpPr>
        <p:spPr>
          <a:xfrm>
            <a:off x="583742" y="1258769"/>
            <a:ext cx="256004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[</a:t>
            </a:r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碧波之牢</a:t>
            </a:r>
            <a:r>
              <a:rPr kumimoji="1" lang="en-US" altLang="zh-CN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just"/>
            <a:endParaRPr lang="en-US" altLang="zh-CN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区域内所有单位被水泡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algn="just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Q]: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给区域加一个边界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所有被水泡冻结过的单位碰到边界后被石化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D5D5BE5-4061-0CE3-1E6C-F4E01E8E320A}"/>
              </a:ext>
            </a:extLst>
          </p:cNvPr>
          <p:cNvSpPr txBox="1"/>
          <p:nvPr/>
        </p:nvSpPr>
        <p:spPr>
          <a:xfrm>
            <a:off x="3365038" y="1258769"/>
            <a:ext cx="243494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撒石阵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在空间中构造不连续的石块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减速所有敌方英雄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并对区域内所有释放位移技能的英雄造成眩晕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BA01684-DBB9-E85F-A3DE-0AE0323ED07C}"/>
              </a:ext>
            </a:extLst>
          </p:cNvPr>
          <p:cNvSpPr txBox="1"/>
          <p:nvPr/>
        </p:nvSpPr>
        <p:spPr>
          <a:xfrm>
            <a:off x="6211018" y="1258768"/>
            <a:ext cx="262345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轮回绝境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选取一个敌方英雄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决斗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决斗期间其他英雄和小兵均被冻结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即当成常数处理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).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770A9F5-CBB4-1710-F744-744A399DA3EC}"/>
              </a:ext>
            </a:extLst>
          </p:cNvPr>
          <p:cNvSpPr txBox="1"/>
          <p:nvPr/>
        </p:nvSpPr>
        <p:spPr>
          <a:xfrm>
            <a:off x="9154106" y="1258768"/>
            <a:ext cx="226028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[</a:t>
            </a:r>
            <a:r>
              <a:rPr kumimoji="1" lang="zh-CN" altLang="en-US" sz="24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安魂曲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just"/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对全地图内所有英雄造成伤害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总伤害量等于每个英雄伤害量的和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F4388097-5746-A6AF-9C41-35FDB7C75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894" y="1278549"/>
            <a:ext cx="638380" cy="57570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2499C6E0-90D2-10B8-3925-1E2C1FEE6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50" y="1271485"/>
            <a:ext cx="615024" cy="56131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0DB97257-0EA8-7D35-EFCE-086EBDCA3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840" y="1271484"/>
            <a:ext cx="622809" cy="56131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CD024CD1-0393-B5CA-5906-ABD20CEB04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4619" y="1257092"/>
            <a:ext cx="622809" cy="5757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D8BAA08-6BCE-8277-8246-69FAEF6F9D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35" y="4483689"/>
            <a:ext cx="2287349" cy="216897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1570540-149F-C038-FEAF-DF1C6DB23D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7556" y="3693631"/>
            <a:ext cx="1833471" cy="113801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FBD0238-EC94-2F32-465D-B59BAFA634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3459" y="4383804"/>
            <a:ext cx="2623459" cy="234857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620DEEB-AE02-2A40-8BA4-41AFB15CEC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7215" y="3702515"/>
            <a:ext cx="3081338" cy="751252"/>
          </a:xfrm>
          <a:prstGeom prst="rect">
            <a:avLst/>
          </a:prstGeom>
        </p:spPr>
      </p:pic>
      <p:pic>
        <p:nvPicPr>
          <p:cNvPr id="1026" name="Picture 2" descr="The original Lenna test image.">
            <a:extLst>
              <a:ext uri="{FF2B5EF4-FFF2-40B4-BE49-F238E27FC236}">
                <a16:creationId xmlns:a16="http://schemas.microsoft.com/office/drawing/2014/main" id="{34FD53B3-8BBF-9A1D-863F-8F811A2EE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006" y="4964768"/>
            <a:ext cx="1767606" cy="1767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30C5A94-8A71-BC28-309D-77DF4A7F0B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27" b="50082"/>
          <a:stretch/>
        </p:blipFill>
        <p:spPr bwMode="auto">
          <a:xfrm>
            <a:off x="9004619" y="4562236"/>
            <a:ext cx="2933700" cy="209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DAC6314-655C-674D-244C-D19BCDB73EAF}"/>
              </a:ext>
            </a:extLst>
          </p:cNvPr>
          <p:cNvSpPr txBox="1"/>
          <p:nvPr/>
        </p:nvSpPr>
        <p:spPr>
          <a:xfrm rot="20660146">
            <a:off x="10184919" y="541022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高数</a:t>
            </a:r>
          </a:p>
        </p:txBody>
      </p:sp>
    </p:spTree>
    <p:extLst>
      <p:ext uri="{BB962C8B-B14F-4D97-AF65-F5344CB8AC3E}">
        <p14:creationId xmlns:p14="http://schemas.microsoft.com/office/powerpoint/2010/main" val="3941933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776</Words>
  <Application>Microsoft Office PowerPoint</Application>
  <PresentationFormat>宽屏</PresentationFormat>
  <Paragraphs>105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宋体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yucheng hu</dc:creator>
  <cp:lastModifiedBy>yucheng hu</cp:lastModifiedBy>
  <cp:revision>34</cp:revision>
  <dcterms:created xsi:type="dcterms:W3CDTF">2025-03-13T02:52:55Z</dcterms:created>
  <dcterms:modified xsi:type="dcterms:W3CDTF">2025-03-14T07:01:07Z</dcterms:modified>
</cp:coreProperties>
</file>